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4"/>
  </p:sldMasterIdLst>
  <p:notesMasterIdLst>
    <p:notesMasterId r:id="rId15"/>
  </p:notesMasterIdLst>
  <p:sldIdLst>
    <p:sldId id="256" r:id="rId5"/>
    <p:sldId id="283" r:id="rId6"/>
    <p:sldId id="257" r:id="rId7"/>
    <p:sldId id="258" r:id="rId8"/>
    <p:sldId id="287" r:id="rId9"/>
    <p:sldId id="292" r:id="rId10"/>
    <p:sldId id="294" r:id="rId11"/>
    <p:sldId id="285" r:id="rId12"/>
    <p:sldId id="293" r:id="rId13"/>
    <p:sldId id="28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1E42"/>
    <a:srgbClr val="90C2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4F3AF3-E51B-4265-AE01-951320DABF16}" v="11" dt="2026-04-13T11:08:44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55" autoAdjust="0"/>
    <p:restoredTop sz="74372" autoAdjust="0"/>
  </p:normalViewPr>
  <p:slideViewPr>
    <p:cSldViewPr snapToGrid="0">
      <p:cViewPr varScale="1">
        <p:scale>
          <a:sx n="47" d="100"/>
          <a:sy n="47" d="100"/>
        </p:scale>
        <p:origin x="154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Crest" userId="a18192cee22b14ef" providerId="LiveId" clId="{F6A4E89F-FC5E-4687-BAB0-B17DCCBD5A4A}"/>
    <pc:docChg chg="custSel addSld delSld modSld sldOrd">
      <pc:chgData name="Alex Crest" userId="a18192cee22b14ef" providerId="LiveId" clId="{F6A4E89F-FC5E-4687-BAB0-B17DCCBD5A4A}" dt="2026-04-13T13:00:22.254" v="4222" actId="20577"/>
      <pc:docMkLst>
        <pc:docMk/>
      </pc:docMkLst>
      <pc:sldChg chg="modSp mod">
        <pc:chgData name="Alex Crest" userId="a18192cee22b14ef" providerId="LiveId" clId="{F6A4E89F-FC5E-4687-BAB0-B17DCCBD5A4A}" dt="2026-04-11T17:08:18.228" v="87" actId="14100"/>
        <pc:sldMkLst>
          <pc:docMk/>
          <pc:sldMk cId="40268896" sldId="256"/>
        </pc:sldMkLst>
        <pc:spChg chg="mod">
          <ac:chgData name="Alex Crest" userId="a18192cee22b14ef" providerId="LiveId" clId="{F6A4E89F-FC5E-4687-BAB0-B17DCCBD5A4A}" dt="2026-04-11T17:08:18.228" v="87" actId="14100"/>
          <ac:spMkLst>
            <pc:docMk/>
            <pc:sldMk cId="40268896" sldId="256"/>
            <ac:spMk id="3" creationId="{D1AFC3FB-DF21-6266-EA9C-DB2E79878F92}"/>
          </ac:spMkLst>
        </pc:spChg>
      </pc:sldChg>
      <pc:sldChg chg="addSp delSp modSp mod modNotesTx">
        <pc:chgData name="Alex Crest" userId="a18192cee22b14ef" providerId="LiveId" clId="{F6A4E89F-FC5E-4687-BAB0-B17DCCBD5A4A}" dt="2026-04-13T13:00:22.254" v="4222" actId="20577"/>
        <pc:sldMkLst>
          <pc:docMk/>
          <pc:sldMk cId="2577635408" sldId="257"/>
        </pc:sldMkLst>
        <pc:spChg chg="mod">
          <ac:chgData name="Alex Crest" userId="a18192cee22b14ef" providerId="LiveId" clId="{F6A4E89F-FC5E-4687-BAB0-B17DCCBD5A4A}" dt="2026-04-11T19:53:25.769" v="3337" actId="20577"/>
          <ac:spMkLst>
            <pc:docMk/>
            <pc:sldMk cId="2577635408" sldId="257"/>
            <ac:spMk id="2" creationId="{2EE9D09F-1E6A-4463-9162-BB9C91BC0DAC}"/>
          </ac:spMkLst>
        </pc:spChg>
        <pc:spChg chg="add mod">
          <ac:chgData name="Alex Crest" userId="a18192cee22b14ef" providerId="LiveId" clId="{F6A4E89F-FC5E-4687-BAB0-B17DCCBD5A4A}" dt="2026-04-13T13:00:22.254" v="4222" actId="20577"/>
          <ac:spMkLst>
            <pc:docMk/>
            <pc:sldMk cId="2577635408" sldId="257"/>
            <ac:spMk id="3" creationId="{25C8A563-C478-F0BF-C93B-7E4545A33AB5}"/>
          </ac:spMkLst>
        </pc:spChg>
      </pc:sldChg>
      <pc:sldChg chg="addSp delSp modSp mod">
        <pc:chgData name="Alex Crest" userId="a18192cee22b14ef" providerId="LiveId" clId="{F6A4E89F-FC5E-4687-BAB0-B17DCCBD5A4A}" dt="2026-04-11T18:51:59.762" v="1930" actId="20577"/>
        <pc:sldMkLst>
          <pc:docMk/>
          <pc:sldMk cId="469010280" sldId="258"/>
        </pc:sldMkLst>
        <pc:spChg chg="mod">
          <ac:chgData name="Alex Crest" userId="a18192cee22b14ef" providerId="LiveId" clId="{F6A4E89F-FC5E-4687-BAB0-B17DCCBD5A4A}" dt="2026-04-11T17:20:18.754" v="507" actId="20577"/>
          <ac:spMkLst>
            <pc:docMk/>
            <pc:sldMk cId="469010280" sldId="258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18:51:59.762" v="1930" actId="20577"/>
          <ac:spMkLst>
            <pc:docMk/>
            <pc:sldMk cId="469010280" sldId="258"/>
            <ac:spMk id="3" creationId="{C8290B68-1810-42B4-A767-127981EADCEC}"/>
          </ac:spMkLst>
        </pc:spChg>
        <pc:picChg chg="add mod modCrop">
          <ac:chgData name="Alex Crest" userId="a18192cee22b14ef" providerId="LiveId" clId="{F6A4E89F-FC5E-4687-BAB0-B17DCCBD5A4A}" dt="2026-04-11T17:22:38.111" v="741" actId="1076"/>
          <ac:picMkLst>
            <pc:docMk/>
            <pc:sldMk cId="469010280" sldId="258"/>
            <ac:picMk id="9" creationId="{ED0A5F59-0A06-B8B2-E6D8-49897515F6D7}"/>
          </ac:picMkLst>
        </pc:picChg>
      </pc:sldChg>
      <pc:sldChg chg="addSp delSp modSp mod">
        <pc:chgData name="Alex Crest" userId="a18192cee22b14ef" providerId="LiveId" clId="{F6A4E89F-FC5E-4687-BAB0-B17DCCBD5A4A}" dt="2026-04-11T20:27:31.608" v="4149" actId="26606"/>
        <pc:sldMkLst>
          <pc:docMk/>
          <pc:sldMk cId="3089399495" sldId="283"/>
        </pc:sldMkLst>
        <pc:spChg chg="mo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2" creationId="{2EE9D09F-1E6A-4463-9162-BB9C91BC0DAC}"/>
          </ac:spMkLst>
        </pc:spChg>
        <pc:spChg chg="mo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6" creationId="{8FAA3E5F-AC40-4BD6-87AC-1007B6E82E66}"/>
          </ac:spMkLst>
        </pc:spChg>
        <pc:spChg chg="add">
          <ac:chgData name="Alex Crest" userId="a18192cee22b14ef" providerId="LiveId" clId="{F6A4E89F-FC5E-4687-BAB0-B17DCCBD5A4A}" dt="2026-04-11T20:27:31.608" v="4149" actId="26606"/>
          <ac:spMkLst>
            <pc:docMk/>
            <pc:sldMk cId="3089399495" sldId="283"/>
            <ac:spMk id="11" creationId="{3BCB5F6A-9EB0-40B0-9D13-3023E9A20508}"/>
          </ac:spMkLst>
        </pc:spChg>
        <pc:picChg chg="add mod">
          <ac:chgData name="Alex Crest" userId="a18192cee22b14ef" providerId="LiveId" clId="{F6A4E89F-FC5E-4687-BAB0-B17DCCBD5A4A}" dt="2026-04-11T20:27:31.608" v="4149" actId="26606"/>
          <ac:picMkLst>
            <pc:docMk/>
            <pc:sldMk cId="3089399495" sldId="283"/>
            <ac:picMk id="3" creationId="{95805401-3185-6EAA-0D36-BD7AA72038AB}"/>
          </ac:picMkLst>
        </pc:picChg>
      </pc:sldChg>
      <pc:sldChg chg="delSp modSp mod ord">
        <pc:chgData name="Alex Crest" userId="a18192cee22b14ef" providerId="LiveId" clId="{F6A4E89F-FC5E-4687-BAB0-B17DCCBD5A4A}" dt="2026-04-11T20:26:14.606" v="4084" actId="20577"/>
        <pc:sldMkLst>
          <pc:docMk/>
          <pc:sldMk cId="457858153" sldId="285"/>
        </pc:sldMkLst>
        <pc:spChg chg="mod">
          <ac:chgData name="Alex Crest" userId="a18192cee22b14ef" providerId="LiveId" clId="{F6A4E89F-FC5E-4687-BAB0-B17DCCBD5A4A}" dt="2026-04-11T18:17:22.725" v="1837" actId="20577"/>
          <ac:spMkLst>
            <pc:docMk/>
            <pc:sldMk cId="457858153" sldId="285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20:26:14.606" v="4084" actId="20577"/>
          <ac:spMkLst>
            <pc:docMk/>
            <pc:sldMk cId="457858153" sldId="285"/>
            <ac:spMk id="3" creationId="{C8290B68-1810-42B4-A767-127981EADCEC}"/>
          </ac:spMkLst>
        </pc:spChg>
      </pc:sldChg>
      <pc:sldChg chg="addSp delSp modSp mod">
        <pc:chgData name="Alex Crest" userId="a18192cee22b14ef" providerId="LiveId" clId="{F6A4E89F-FC5E-4687-BAB0-B17DCCBD5A4A}" dt="2026-04-11T20:27:49.158" v="4150" actId="313"/>
        <pc:sldMkLst>
          <pc:docMk/>
          <pc:sldMk cId="4064535349" sldId="287"/>
        </pc:sldMkLst>
        <pc:spChg chg="mod">
          <ac:chgData name="Alex Crest" userId="a18192cee22b14ef" providerId="LiveId" clId="{F6A4E89F-FC5E-4687-BAB0-B17DCCBD5A4A}" dt="2026-04-11T18:08:31.065" v="1185" actId="20577"/>
          <ac:spMkLst>
            <pc:docMk/>
            <pc:sldMk cId="4064535349" sldId="287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20:27:49.158" v="4150" actId="313"/>
          <ac:spMkLst>
            <pc:docMk/>
            <pc:sldMk cId="4064535349" sldId="287"/>
            <ac:spMk id="3" creationId="{C8290B68-1810-42B4-A767-127981EADCEC}"/>
          </ac:spMkLst>
        </pc:spChg>
        <pc:picChg chg="add mod">
          <ac:chgData name="Alex Crest" userId="a18192cee22b14ef" providerId="LiveId" clId="{F6A4E89F-FC5E-4687-BAB0-B17DCCBD5A4A}" dt="2026-04-11T18:15:19.282" v="1717"/>
          <ac:picMkLst>
            <pc:docMk/>
            <pc:sldMk cId="4064535349" sldId="287"/>
            <ac:picMk id="5" creationId="{24BDDA20-CD5D-983C-BF37-5F1EEEE3B39C}"/>
          </ac:picMkLst>
        </pc:picChg>
      </pc:sldChg>
      <pc:sldChg chg="addSp delSp modSp mod">
        <pc:chgData name="Alex Crest" userId="a18192cee22b14ef" providerId="LiveId" clId="{F6A4E89F-FC5E-4687-BAB0-B17DCCBD5A4A}" dt="2026-04-11T19:59:22.413" v="3380" actId="20577"/>
        <pc:sldMkLst>
          <pc:docMk/>
          <pc:sldMk cId="3593407456" sldId="292"/>
        </pc:sldMkLst>
        <pc:spChg chg="mod">
          <ac:chgData name="Alex Crest" userId="a18192cee22b14ef" providerId="LiveId" clId="{F6A4E89F-FC5E-4687-BAB0-B17DCCBD5A4A}" dt="2026-04-11T18:11:29.119" v="1438" actId="20577"/>
          <ac:spMkLst>
            <pc:docMk/>
            <pc:sldMk cId="3593407456" sldId="292"/>
            <ac:spMk id="2" creationId="{F29DD455-E6E2-437E-99D2-5279CE2535F6}"/>
          </ac:spMkLst>
        </pc:spChg>
        <pc:spChg chg="mod">
          <ac:chgData name="Alex Crest" userId="a18192cee22b14ef" providerId="LiveId" clId="{F6A4E89F-FC5E-4687-BAB0-B17DCCBD5A4A}" dt="2026-04-11T19:59:22.413" v="3380" actId="20577"/>
          <ac:spMkLst>
            <pc:docMk/>
            <pc:sldMk cId="3593407456" sldId="292"/>
            <ac:spMk id="3" creationId="{C8290B68-1810-42B4-A767-127981EADCEC}"/>
          </ac:spMkLst>
        </pc:spChg>
        <pc:picChg chg="add mod">
          <ac:chgData name="Alex Crest" userId="a18192cee22b14ef" providerId="LiveId" clId="{F6A4E89F-FC5E-4687-BAB0-B17DCCBD5A4A}" dt="2026-04-11T18:15:23.391" v="1718"/>
          <ac:picMkLst>
            <pc:docMk/>
            <pc:sldMk cId="3593407456" sldId="292"/>
            <ac:picMk id="4" creationId="{7A1A8863-C232-8EC2-3E6A-1F4A54E8AF01}"/>
          </ac:picMkLst>
        </pc:picChg>
      </pc:sldChg>
      <pc:sldChg chg="delSp modSp mod">
        <pc:chgData name="Alex Crest" userId="a18192cee22b14ef" providerId="LiveId" clId="{F6A4E89F-FC5E-4687-BAB0-B17DCCBD5A4A}" dt="2026-04-12T18:18:21.929" v="4166" actId="20577"/>
        <pc:sldMkLst>
          <pc:docMk/>
          <pc:sldMk cId="2486830813" sldId="293"/>
        </pc:sldMkLst>
        <pc:spChg chg="mod">
          <ac:chgData name="Alex Crest" userId="a18192cee22b14ef" providerId="LiveId" clId="{F6A4E89F-FC5E-4687-BAB0-B17DCCBD5A4A}" dt="2026-04-11T19:50:40.830" v="3070" actId="20577"/>
          <ac:spMkLst>
            <pc:docMk/>
            <pc:sldMk cId="2486830813" sldId="293"/>
            <ac:spMk id="2" creationId="{87F5380F-B36A-78E6-34A6-D6E31314EBFB}"/>
          </ac:spMkLst>
        </pc:spChg>
        <pc:spChg chg="mod">
          <ac:chgData name="Alex Crest" userId="a18192cee22b14ef" providerId="LiveId" clId="{F6A4E89F-FC5E-4687-BAB0-B17DCCBD5A4A}" dt="2026-04-12T18:18:21.929" v="4166" actId="20577"/>
          <ac:spMkLst>
            <pc:docMk/>
            <pc:sldMk cId="2486830813" sldId="293"/>
            <ac:spMk id="3" creationId="{AB502F3C-93A2-45E2-CB78-D4898321859D}"/>
          </ac:spMkLst>
        </pc:spChg>
      </pc:sldChg>
      <pc:sldChg chg="modSp add mod ord">
        <pc:chgData name="Alex Crest" userId="a18192cee22b14ef" providerId="LiveId" clId="{F6A4E89F-FC5E-4687-BAB0-B17DCCBD5A4A}" dt="2026-04-11T19:40:55.471" v="2844" actId="20577"/>
        <pc:sldMkLst>
          <pc:docMk/>
          <pc:sldMk cId="3578320722" sldId="294"/>
        </pc:sldMkLst>
        <pc:spChg chg="mod">
          <ac:chgData name="Alex Crest" userId="a18192cee22b14ef" providerId="LiveId" clId="{F6A4E89F-FC5E-4687-BAB0-B17DCCBD5A4A}" dt="2026-04-11T18:56:27.397" v="2354" actId="20577"/>
          <ac:spMkLst>
            <pc:docMk/>
            <pc:sldMk cId="3578320722" sldId="294"/>
            <ac:spMk id="2" creationId="{043E3222-64D2-2E57-9ACA-EE97AAA19945}"/>
          </ac:spMkLst>
        </pc:spChg>
        <pc:spChg chg="mod">
          <ac:chgData name="Alex Crest" userId="a18192cee22b14ef" providerId="LiveId" clId="{F6A4E89F-FC5E-4687-BAB0-B17DCCBD5A4A}" dt="2026-04-11T19:40:55.471" v="2844" actId="20577"/>
          <ac:spMkLst>
            <pc:docMk/>
            <pc:sldMk cId="3578320722" sldId="294"/>
            <ac:spMk id="3" creationId="{15CB22B8-5FF2-72B8-D187-9BF9EAE9F5A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20DB3-DB4E-455A-B8BD-AA7FEFD7CD8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FE8176-A870-43EE-B2AB-C4200210AE6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4686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Who am I?</a:t>
            </a:r>
          </a:p>
          <a:p>
            <a:r>
              <a:rPr lang="en-GB" dirty="0"/>
              <a:t>- Alex: Archaeologist, </a:t>
            </a:r>
          </a:p>
          <a:p>
            <a:pPr marL="171450" indent="-171450">
              <a:buFontTx/>
              <a:buChar char="-"/>
            </a:pPr>
            <a:r>
              <a:rPr lang="en-GB" dirty="0"/>
              <a:t>I use Sentiment Analysis to assess found data: Social  media comments about archaeological sites; and Google maps reviews. I have historically used these tools for other research projects.</a:t>
            </a:r>
          </a:p>
          <a:p>
            <a:pPr marL="171450" indent="-171450">
              <a:buFontTx/>
              <a:buChar char="-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E8176-A870-43EE-B2AB-C4200210AE6F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57160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FE8176-A870-43EE-B2AB-C4200210AE6F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18919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637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6441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673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2657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09239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72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66749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74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611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9823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309015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48788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17696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267207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5224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455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F935DE-EE82-448F-BD2C-F33E7B672033}" type="datetimeFigureOut">
              <a:rPr lang="en-GB" smtClean="0"/>
              <a:t>13/04/2026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7BE3ED9-553B-4B53-A8D6-B79202B4BD6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708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Icon&#10;&#10;Description automatically generated">
            <a:extLst>
              <a:ext uri="{FF2B5EF4-FFF2-40B4-BE49-F238E27FC236}">
                <a16:creationId xmlns:a16="http://schemas.microsoft.com/office/drawing/2014/main" id="{13652E18-EADA-4806-860F-2D28DC07DD5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24" r="16963" b="9091"/>
          <a:stretch/>
        </p:blipFill>
        <p:spPr>
          <a:xfrm>
            <a:off x="516797" y="2033195"/>
            <a:ext cx="6001990" cy="48248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8B6D63-D41F-48B5-BEA8-1EA498A4D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7832" y="557997"/>
            <a:ext cx="8327922" cy="1356551"/>
          </a:xfrm>
        </p:spPr>
        <p:txBody>
          <a:bodyPr>
            <a:normAutofit fontScale="90000"/>
          </a:bodyPr>
          <a:lstStyle/>
          <a:p>
            <a:pPr algn="ctr">
              <a:lnSpc>
                <a:spcPct val="90000"/>
              </a:lnSpc>
            </a:pPr>
            <a:r>
              <a:rPr lang="en-US" b="1" i="0" dirty="0"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</a:rPr>
              <a:t>Introduction to R and RStudio</a:t>
            </a:r>
          </a:p>
        </p:txBody>
      </p:sp>
      <p:pic>
        <p:nvPicPr>
          <p:cNvPr id="4" name="Google Shape;121;p4">
            <a:extLst>
              <a:ext uri="{FF2B5EF4-FFF2-40B4-BE49-F238E27FC236}">
                <a16:creationId xmlns:a16="http://schemas.microsoft.com/office/drawing/2014/main" id="{DC10FA58-D404-01E7-6562-5B11DA37AC6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4711" y="5063674"/>
            <a:ext cx="1787289" cy="17943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D1BC27-D318-6B72-28FE-DAEEE9C2C1E7}"/>
              </a:ext>
            </a:extLst>
          </p:cNvPr>
          <p:cNvSpPr txBox="1"/>
          <p:nvPr/>
        </p:nvSpPr>
        <p:spPr>
          <a:xfrm>
            <a:off x="5712667" y="6300003"/>
            <a:ext cx="3258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Javiera.Alfaro@ed.ac.uk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ECA9E7-CFE1-3ABB-F177-0B6123D41FFE}"/>
              </a:ext>
            </a:extLst>
          </p:cNvPr>
          <p:cNvSpPr txBox="1"/>
          <p:nvPr/>
        </p:nvSpPr>
        <p:spPr>
          <a:xfrm>
            <a:off x="5712667" y="5871348"/>
            <a:ext cx="32587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dirty="0">
                <a:solidFill>
                  <a:schemeClr val="accent1">
                    <a:lumMod val="75000"/>
                  </a:schemeClr>
                </a:solidFill>
              </a:rPr>
              <a:t>r.m.m.davies@sms.ed.ac.uk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F66FE63-19F7-3CED-EF8E-A10204008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AFC3FB-DF21-6266-EA9C-DB2E79878F92}"/>
              </a:ext>
            </a:extLst>
          </p:cNvPr>
          <p:cNvSpPr txBox="1"/>
          <p:nvPr/>
        </p:nvSpPr>
        <p:spPr>
          <a:xfrm>
            <a:off x="6933063" y="3944203"/>
            <a:ext cx="5258937" cy="3046988"/>
          </a:xfrm>
          <a:prstGeom prst="rect">
            <a:avLst/>
          </a:prstGeom>
          <a:solidFill>
            <a:srgbClr val="041E42"/>
          </a:solidFill>
        </p:spPr>
        <p:txBody>
          <a:bodyPr wrap="square" rtlCol="0">
            <a:spAutoFit/>
          </a:bodyPr>
          <a:lstStyle/>
          <a:p>
            <a:r>
              <a:rPr lang="en-GB" sz="4800" dirty="0">
                <a:solidFill>
                  <a:schemeClr val="bg1"/>
                </a:solidFill>
                <a:latin typeface="Bauhaus 93" panose="04030905020B02020C02" pitchFamily="82" charset="0"/>
              </a:rPr>
              <a:t>COMPARING SENTIMENT ANALYSIS MODELS IN R</a:t>
            </a:r>
          </a:p>
        </p:txBody>
      </p:sp>
    </p:spTree>
    <p:extLst>
      <p:ext uri="{BB962C8B-B14F-4D97-AF65-F5344CB8AC3E}">
        <p14:creationId xmlns:p14="http://schemas.microsoft.com/office/powerpoint/2010/main" val="402688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9D09F-1E6A-4463-9162-BB9C91BC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6734" y="609600"/>
            <a:ext cx="3737268" cy="13208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Before Starting…</a:t>
            </a:r>
          </a:p>
        </p:txBody>
      </p:sp>
      <p:sp>
        <p:nvSpPr>
          <p:cNvPr id="6" name="Google Shape;115;p4">
            <a:extLst>
              <a:ext uri="{FF2B5EF4-FFF2-40B4-BE49-F238E27FC236}">
                <a16:creationId xmlns:a16="http://schemas.microsoft.com/office/drawing/2014/main" id="{8FAA3E5F-AC40-4BD6-87AC-1007B6E82E66}"/>
              </a:ext>
            </a:extLst>
          </p:cNvPr>
          <p:cNvSpPr txBox="1"/>
          <p:nvPr/>
        </p:nvSpPr>
        <p:spPr>
          <a:xfrm>
            <a:off x="5209563" y="2160589"/>
            <a:ext cx="4064439" cy="3880773"/>
          </a:xfrm>
          <a:prstGeom prst="rect">
            <a:avLst/>
          </a:prstGeom>
        </p:spPr>
        <p:txBody>
          <a:bodyPr spcFirstLastPara="1" vert="horz" lIns="91440" tIns="45720" rIns="91440" bIns="45720" rtlCol="0" anchorCtr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 The Workshop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Format: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Work through code together on R Studio – discuss questions as we go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Learning outcomes: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Get a basic understanding of sentiment analysis, the different tools, and how to complete this in R.</a:t>
            </a:r>
          </a:p>
          <a:p>
            <a:pPr lvl="1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To Do: </a:t>
            </a: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sym typeface="Calibri"/>
              </a:rPr>
              <a:t>Open R, and load the .md file for this workshop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228600" marR="0" lvl="0" indent="-228600"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5805401-3185-6EAA-0D36-BD7AA72038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20" r="29831"/>
          <a:stretch>
            <a:fillRect/>
          </a:stretch>
        </p:blipFill>
        <p:spPr>
          <a:xfrm>
            <a:off x="20" y="-1"/>
            <a:ext cx="5394940" cy="6858001"/>
          </a:xfrm>
          <a:custGeom>
            <a:avLst/>
            <a:gdLst/>
            <a:ahLst/>
            <a:cxnLst/>
            <a:rect l="l" t="t" r="r" b="b"/>
            <a:pathLst>
              <a:path w="5394960" h="6858000">
                <a:moveTo>
                  <a:pt x="842596" y="0"/>
                </a:moveTo>
                <a:lnTo>
                  <a:pt x="5394960" y="0"/>
                </a:lnTo>
                <a:lnTo>
                  <a:pt x="5394960" y="21851"/>
                </a:lnTo>
                <a:lnTo>
                  <a:pt x="4365943" y="6858000"/>
                </a:lnTo>
                <a:lnTo>
                  <a:pt x="0" y="6858000"/>
                </a:lnTo>
                <a:lnTo>
                  <a:pt x="0" y="5666154"/>
                </a:lnTo>
                <a:close/>
              </a:path>
            </a:pathLst>
          </a:custGeom>
        </p:spPr>
      </p:pic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3BCB5F6A-9EB0-40B0-9D13-3023E9A205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9399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9D09F-1E6A-4463-9162-BB9C91BC0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6" y="440924"/>
            <a:ext cx="8596668" cy="1320800"/>
          </a:xfrm>
        </p:spPr>
        <p:txBody>
          <a:bodyPr/>
          <a:lstStyle/>
          <a:p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Today</a:t>
            </a:r>
            <a:r>
              <a:rPr lang="en-GB" dirty="0"/>
              <a:t>…</a:t>
            </a:r>
          </a:p>
        </p:txBody>
      </p:sp>
      <p:pic>
        <p:nvPicPr>
          <p:cNvPr id="7" name="Google Shape;121;p4">
            <a:extLst>
              <a:ext uri="{FF2B5EF4-FFF2-40B4-BE49-F238E27FC236}">
                <a16:creationId xmlns:a16="http://schemas.microsoft.com/office/drawing/2014/main" id="{A4AA2B25-8BE2-4C59-8F08-2D2E6D9673A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93829" y="5523927"/>
            <a:ext cx="1185882" cy="109561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C8A563-C478-F0BF-C93B-7E4545A33AB5}"/>
              </a:ext>
            </a:extLst>
          </p:cNvPr>
          <p:cNvSpPr txBox="1"/>
          <p:nvPr/>
        </p:nvSpPr>
        <p:spPr>
          <a:xfrm>
            <a:off x="354842" y="1351128"/>
            <a:ext cx="8760283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14:05 - 14:10 1) Housekeeping</a:t>
            </a:r>
          </a:p>
          <a:p>
            <a:endParaRPr lang="en-GB" dirty="0"/>
          </a:p>
          <a:p>
            <a:r>
              <a:rPr lang="en-GB" dirty="0"/>
              <a:t>14:10 - 14:20 2) Introduction to Sentiment Analysis: What, Why, How?</a:t>
            </a:r>
          </a:p>
          <a:p>
            <a:endParaRPr lang="en-GB" dirty="0"/>
          </a:p>
          <a:p>
            <a:r>
              <a:rPr lang="en-GB" dirty="0"/>
              <a:t>14:20 - 15:30 3) A Comparative look at Three Examples (with a 10 minute break)</a:t>
            </a:r>
          </a:p>
          <a:p>
            <a:endParaRPr lang="en-GB" dirty="0"/>
          </a:p>
          <a:p>
            <a:r>
              <a:rPr lang="en-GB" dirty="0"/>
              <a:t>15:30 - 15:50 5) Analysing Sentiment Scores: Outputs, Variables and Understanding</a:t>
            </a:r>
          </a:p>
          <a:p>
            <a:endParaRPr lang="en-GB" dirty="0"/>
          </a:p>
          <a:p>
            <a:r>
              <a:rPr lang="en-GB" dirty="0"/>
              <a:t>15:50 - 16:00 6) Final Q and A. Complete up to here</a:t>
            </a:r>
          </a:p>
        </p:txBody>
      </p:sp>
    </p:spTree>
    <p:extLst>
      <p:ext uri="{BB962C8B-B14F-4D97-AF65-F5344CB8AC3E}">
        <p14:creationId xmlns:p14="http://schemas.microsoft.com/office/powerpoint/2010/main" val="2577635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What is Sentiment Analysis?</a:t>
            </a: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3720916" cy="356073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Sentiment analysis is a way of computationally identifying subjective information in text: such as underlying emotions or opinions</a:t>
            </a:r>
            <a:endParaRPr lang="en-GB" dirty="0"/>
          </a:p>
          <a:p>
            <a:r>
              <a:rPr lang="en-US" dirty="0"/>
              <a:t>Most tools apply a positive, negative or neutral score, though others offer more targeted emotional recognition</a:t>
            </a:r>
          </a:p>
          <a:p>
            <a:r>
              <a:rPr lang="en-US" dirty="0"/>
              <a:t>Different models exist, and not all programs calculate sentiment the same way.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D0A5F59-0A06-B8B2-E6D8-49897515F6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0102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4287140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Uses of Sentiment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6" y="2160589"/>
            <a:ext cx="4481919" cy="3560733"/>
          </a:xfrm>
        </p:spPr>
        <p:txBody>
          <a:bodyPr>
            <a:noAutofit/>
          </a:bodyPr>
          <a:lstStyle/>
          <a:p>
            <a:r>
              <a:rPr lang="en-GB" sz="2000" b="1" dirty="0"/>
              <a:t>The uses of Sentiment Analysis are wide ranging</a:t>
            </a:r>
          </a:p>
          <a:p>
            <a:r>
              <a:rPr lang="en-GB" sz="2000" dirty="0"/>
              <a:t>Business and Customer Insights</a:t>
            </a:r>
          </a:p>
          <a:p>
            <a:r>
              <a:rPr lang="en-GB" sz="2000" dirty="0"/>
              <a:t>Social Media Monitoring</a:t>
            </a:r>
          </a:p>
          <a:p>
            <a:r>
              <a:rPr lang="en-GB" sz="2000" dirty="0"/>
              <a:t>Marketing</a:t>
            </a:r>
          </a:p>
          <a:p>
            <a:r>
              <a:rPr lang="en-GB" sz="2000" dirty="0"/>
              <a:t>Consumer Studies</a:t>
            </a:r>
          </a:p>
          <a:p>
            <a:r>
              <a:rPr lang="en-GB" sz="2000" dirty="0"/>
              <a:t>Chatbot AI</a:t>
            </a:r>
          </a:p>
          <a:p>
            <a:r>
              <a:rPr lang="en-GB" sz="2000" dirty="0"/>
              <a:t>Opinion Studies</a:t>
            </a:r>
          </a:p>
          <a:p>
            <a:r>
              <a:rPr lang="en-GB" sz="2000" dirty="0"/>
              <a:t>Healthcare and Participant Feedback</a:t>
            </a:r>
          </a:p>
          <a:p>
            <a:r>
              <a:rPr lang="en-GB" sz="2000" dirty="0"/>
              <a:t>+ Many more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BDDA20-CD5D-983C-BF37-5F1EEEE3B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35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6" y="609600"/>
            <a:ext cx="3729076" cy="13208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800" dirty="0"/>
              <a:t>Why use Sentiment Analysis?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167" y="2160589"/>
            <a:ext cx="4656090" cy="3560733"/>
          </a:xfrm>
        </p:spPr>
        <p:txBody>
          <a:bodyPr>
            <a:noAutofit/>
          </a:bodyPr>
          <a:lstStyle/>
          <a:p>
            <a:r>
              <a:rPr lang="en-GB" sz="2000" dirty="0"/>
              <a:t>Quantitative, reproducible.</a:t>
            </a:r>
          </a:p>
          <a:p>
            <a:r>
              <a:rPr lang="en-GB" sz="2000" dirty="0"/>
              <a:t>Wide range of developed options.</a:t>
            </a:r>
          </a:p>
          <a:p>
            <a:r>
              <a:rPr lang="en-GB" sz="2000" dirty="0"/>
              <a:t>Quick and Comparable</a:t>
            </a:r>
          </a:p>
          <a:p>
            <a:r>
              <a:rPr lang="en-GB" sz="2000" dirty="0"/>
              <a:t>Ranges in complexity from simple lexicon-based to more specialised rule-based programs </a:t>
            </a:r>
          </a:p>
          <a:p>
            <a:r>
              <a:rPr lang="en-GB" sz="2000" dirty="0"/>
              <a:t>By now standard in text analysis applications, so whether you want to get into academia or business, sentiment analysis is an important skill to have</a:t>
            </a:r>
          </a:p>
          <a:p>
            <a:r>
              <a:rPr lang="en-GB" sz="2000" dirty="0"/>
              <a:t>Transferable data science skillset</a:t>
            </a:r>
          </a:p>
          <a:p>
            <a:endParaRPr lang="en-GB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1A8863-C232-8EC2-3E6A-1F4A54E8AF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51" r="19292"/>
          <a:stretch>
            <a:fillRect/>
          </a:stretch>
        </p:blipFill>
        <p:spPr>
          <a:xfrm>
            <a:off x="5745708" y="1487606"/>
            <a:ext cx="3713082" cy="3560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407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4409AEC-6C04-B185-F7DD-E33DFDFB0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E3222-64D2-2E57-9ACA-EE97AAA19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5" y="609600"/>
            <a:ext cx="6464767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</a:rPr>
              <a:t>Some difficulties:</a:t>
            </a:r>
            <a:br>
              <a:rPr lang="en-GB" sz="2800" dirty="0"/>
            </a:b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CB22B8-5FF2-72B8-D187-9BF9EAE9F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672" y="1044199"/>
            <a:ext cx="5470328" cy="3560733"/>
          </a:xfrm>
        </p:spPr>
        <p:txBody>
          <a:bodyPr>
            <a:noAutofit/>
          </a:bodyPr>
          <a:lstStyle/>
          <a:p>
            <a:endParaRPr lang="en-US" sz="2000" dirty="0"/>
          </a:p>
          <a:p>
            <a:r>
              <a:rPr lang="en-US" sz="2000" dirty="0"/>
              <a:t>Useful for initial exploratory analysis. </a:t>
            </a:r>
          </a:p>
          <a:p>
            <a:r>
              <a:rPr lang="en-US" sz="2000" dirty="0"/>
              <a:t>Difficulties in understanding sarcasm, or complex texts with multiple subjects:</a:t>
            </a:r>
          </a:p>
          <a:p>
            <a:pPr lvl="1"/>
            <a:r>
              <a:rPr lang="en-GB" sz="1800" dirty="0"/>
              <a:t>“The burrito was delicious, but the soda was flat”</a:t>
            </a:r>
          </a:p>
          <a:p>
            <a:pPr lvl="1"/>
            <a:r>
              <a:rPr lang="en-GB" sz="1800" dirty="0"/>
              <a:t>“Great film, totally worth the ticket price”</a:t>
            </a:r>
          </a:p>
          <a:p>
            <a:r>
              <a:rPr lang="en-GB" sz="2000" dirty="0"/>
              <a:t>People are more likely to be positive in social situations than negative </a:t>
            </a:r>
            <a:r>
              <a:rPr lang="en-GB" dirty="0"/>
              <a:t>(Guerra et al., 2014; Jordan et al., 2011)</a:t>
            </a:r>
            <a:endParaRPr lang="en-GB" sz="2000" dirty="0"/>
          </a:p>
          <a:p>
            <a:r>
              <a:rPr lang="en-GB" sz="2000" dirty="0"/>
              <a:t>People are more likely to express extreme rather than average feelings (</a:t>
            </a:r>
            <a:r>
              <a:rPr lang="es-ES" dirty="0"/>
              <a:t>Guerra et al., 2014; </a:t>
            </a:r>
            <a:r>
              <a:rPr lang="es-ES" dirty="0" err="1"/>
              <a:t>Dellarocas</a:t>
            </a:r>
            <a:r>
              <a:rPr lang="es-ES" dirty="0"/>
              <a:t> and </a:t>
            </a:r>
            <a:r>
              <a:rPr lang="es-ES" dirty="0" err="1"/>
              <a:t>Narayan</a:t>
            </a:r>
            <a:r>
              <a:rPr lang="es-ES" dirty="0"/>
              <a:t>, 2006).</a:t>
            </a:r>
          </a:p>
          <a:p>
            <a:r>
              <a:rPr lang="es-ES" sz="2000" dirty="0" err="1"/>
              <a:t>Qualify</a:t>
            </a:r>
            <a:r>
              <a:rPr lang="es-ES" sz="2000" dirty="0"/>
              <a:t> </a:t>
            </a:r>
            <a:r>
              <a:rPr lang="es-ES" sz="2000" dirty="0" err="1"/>
              <a:t>or</a:t>
            </a:r>
            <a:r>
              <a:rPr lang="es-ES" sz="2000" dirty="0"/>
              <a:t> combine </a:t>
            </a:r>
            <a:r>
              <a:rPr lang="es-ES" sz="2000" dirty="0" err="1"/>
              <a:t>sentiment</a:t>
            </a:r>
            <a:r>
              <a:rPr lang="es-ES" sz="2000" dirty="0"/>
              <a:t> </a:t>
            </a:r>
            <a:r>
              <a:rPr lang="es-ES" sz="2000" dirty="0" err="1"/>
              <a:t>analysis</a:t>
            </a:r>
            <a:r>
              <a:rPr lang="es-ES" sz="2000" dirty="0"/>
              <a:t> </a:t>
            </a:r>
            <a:r>
              <a:rPr lang="es-ES" sz="2000" dirty="0" err="1"/>
              <a:t>with</a:t>
            </a:r>
            <a:r>
              <a:rPr lang="es-ES" sz="2000" dirty="0"/>
              <a:t> </a:t>
            </a:r>
            <a:r>
              <a:rPr lang="es-ES" sz="2000" dirty="0" err="1"/>
              <a:t>other</a:t>
            </a:r>
            <a:r>
              <a:rPr lang="es-ES" sz="2000" dirty="0"/>
              <a:t> </a:t>
            </a:r>
            <a:r>
              <a:rPr lang="es-ES" sz="2000" dirty="0" err="1"/>
              <a:t>methods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78320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DD455-E6E2-437E-99D2-5279CE253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745" y="609600"/>
            <a:ext cx="6464767" cy="1320800"/>
          </a:xfrm>
        </p:spPr>
        <p:txBody>
          <a:bodyPr anchor="ctr">
            <a:normAutofit fontScale="90000"/>
          </a:bodyPr>
          <a:lstStyle/>
          <a:p>
            <a:pPr>
              <a:lnSpc>
                <a:spcPct val="90000"/>
              </a:lnSpc>
            </a:pPr>
            <a:r>
              <a:rPr lang="en-GB" sz="2800" dirty="0">
                <a:solidFill>
                  <a:schemeClr val="accent1">
                    <a:lumMod val="50000"/>
                  </a:schemeClr>
                </a:solidFill>
              </a:rPr>
              <a:t>What Categories of Sentiment Analysis are there?</a:t>
            </a:r>
            <a:br>
              <a:rPr lang="en-GB" sz="2800" dirty="0"/>
            </a:br>
            <a:br>
              <a:rPr lang="en-GB" sz="2800" dirty="0"/>
            </a:br>
            <a:br>
              <a:rPr lang="en-GB" sz="2800" dirty="0"/>
            </a:br>
            <a:endParaRPr lang="en-GB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290B68-1810-42B4-A767-127981EADC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671" y="1648633"/>
            <a:ext cx="9479223" cy="3560733"/>
          </a:xfrm>
        </p:spPr>
        <p:txBody>
          <a:bodyPr>
            <a:noAutofit/>
          </a:bodyPr>
          <a:lstStyle/>
          <a:p>
            <a:r>
              <a:rPr lang="en-GB" sz="2000" dirty="0"/>
              <a:t>There are many open-source programs in R, and options are available in Python also. In practice they are divided into different categories of complexity </a:t>
            </a:r>
          </a:p>
          <a:p>
            <a:r>
              <a:rPr lang="en-GB" sz="2000" dirty="0"/>
              <a:t>Approaches</a:t>
            </a:r>
          </a:p>
          <a:p>
            <a:pPr lvl="1"/>
            <a:r>
              <a:rPr lang="en-GB" sz="1800" dirty="0"/>
              <a:t>Rule-Based (predefined set of rules and lexicons, dictionaries)</a:t>
            </a:r>
          </a:p>
          <a:p>
            <a:pPr lvl="1"/>
            <a:r>
              <a:rPr lang="en-GB" sz="1800" dirty="0"/>
              <a:t>Machine Learning (Trained on data, including deep learning and syntax awareness)</a:t>
            </a:r>
          </a:p>
          <a:p>
            <a:pPr lvl="1"/>
            <a:r>
              <a:rPr lang="en-GB" sz="1800" dirty="0"/>
              <a:t>Hybrid: A combination of the two </a:t>
            </a:r>
          </a:p>
          <a:p>
            <a:r>
              <a:rPr lang="en-GB" sz="2000" dirty="0"/>
              <a:t>Types</a:t>
            </a:r>
          </a:p>
          <a:p>
            <a:pPr lvl="1"/>
            <a:r>
              <a:rPr lang="en-GB" sz="1800" dirty="0"/>
              <a:t>Polarity (offered by most sentiment tools)</a:t>
            </a:r>
          </a:p>
          <a:p>
            <a:pPr lvl="1"/>
            <a:r>
              <a:rPr lang="en-GB" sz="1800" dirty="0"/>
              <a:t>Emotion Based (underlying psychological qualities of the text and author)</a:t>
            </a:r>
          </a:p>
          <a:p>
            <a:pPr lvl="1"/>
            <a:r>
              <a:rPr lang="en-GB" sz="1800" dirty="0"/>
              <a:t>Fine Grained (Grades based on the emotion)</a:t>
            </a:r>
          </a:p>
          <a:p>
            <a:pPr lvl="1"/>
            <a:r>
              <a:rPr lang="en-GB" sz="1800" dirty="0"/>
              <a:t>Feature/Aspect based (Focussed on specific attribute of wider subject)</a:t>
            </a:r>
            <a:endParaRPr lang="en-GB" sz="1600" dirty="0"/>
          </a:p>
          <a:p>
            <a:endParaRPr lang="en-GB" sz="18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578581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F5380F-B36A-78E6-34A6-D6E31314E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 anchor="t">
            <a:normAutofit/>
          </a:bodyPr>
          <a:lstStyle/>
          <a:p>
            <a:r>
              <a:rPr lang="en-GB" dirty="0"/>
              <a:t>What do you need?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02F3C-93A2-45E2-CB78-D48983218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6836" y="1841665"/>
            <a:ext cx="4562323" cy="4269240"/>
          </a:xfrm>
        </p:spPr>
        <p:txBody>
          <a:bodyPr>
            <a:noAutofit/>
          </a:bodyPr>
          <a:lstStyle/>
          <a:p>
            <a:pPr marL="0" indent="0">
              <a:lnSpc>
                <a:spcPct val="90000"/>
              </a:lnSpc>
              <a:buNone/>
            </a:pPr>
            <a:endParaRPr lang="en-GB" dirty="0"/>
          </a:p>
          <a:p>
            <a:pPr>
              <a:lnSpc>
                <a:spcPct val="90000"/>
              </a:lnSpc>
            </a:pPr>
            <a:r>
              <a:rPr lang="en-GB" dirty="0"/>
              <a:t>RStudio</a:t>
            </a:r>
          </a:p>
          <a:p>
            <a:pPr>
              <a:lnSpc>
                <a:spcPct val="90000"/>
              </a:lnSpc>
            </a:pPr>
            <a:r>
              <a:rPr lang="en-GB" dirty="0"/>
              <a:t>A corpus or corpora of processed text data</a:t>
            </a:r>
          </a:p>
          <a:p>
            <a:pPr>
              <a:lnSpc>
                <a:spcPct val="90000"/>
              </a:lnSpc>
            </a:pPr>
            <a:r>
              <a:rPr lang="en-GB" dirty="0"/>
              <a:t>An Output Folder</a:t>
            </a:r>
          </a:p>
          <a:p>
            <a:pPr>
              <a:lnSpc>
                <a:spcPct val="90000"/>
              </a:lnSpc>
            </a:pPr>
            <a:r>
              <a:rPr lang="en-GB" dirty="0"/>
              <a:t>Time</a:t>
            </a:r>
          </a:p>
          <a:p>
            <a:pPr>
              <a:lnSpc>
                <a:spcPct val="90000"/>
              </a:lnSpc>
            </a:pPr>
            <a:r>
              <a:rPr lang="en-GB" dirty="0"/>
              <a:t>We will guide you through an R markdown today as we introduce different methods. </a:t>
            </a:r>
          </a:p>
        </p:txBody>
      </p:sp>
    </p:spTree>
    <p:extLst>
      <p:ext uri="{BB962C8B-B14F-4D97-AF65-F5344CB8AC3E}">
        <p14:creationId xmlns:p14="http://schemas.microsoft.com/office/powerpoint/2010/main" val="24868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334C7-5FCB-40F1-B64D-381EAC8C0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accent1">
                    <a:lumMod val="50000"/>
                  </a:schemeClr>
                </a:solidFill>
              </a:rPr>
              <a:t>Let’s try it ourselves!</a:t>
            </a:r>
          </a:p>
        </p:txBody>
      </p:sp>
    </p:spTree>
    <p:extLst>
      <p:ext uri="{BB962C8B-B14F-4D97-AF65-F5344CB8AC3E}">
        <p14:creationId xmlns:p14="http://schemas.microsoft.com/office/powerpoint/2010/main" val="392761789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6FA43870EC3F1479C794ECA0A85DC3A" ma:contentTypeVersion="2" ma:contentTypeDescription="Create a new document." ma:contentTypeScope="" ma:versionID="064810d467210a95de952a583c0e092c">
  <xsd:schema xmlns:xsd="http://www.w3.org/2001/XMLSchema" xmlns:xs="http://www.w3.org/2001/XMLSchema" xmlns:p="http://schemas.microsoft.com/office/2006/metadata/properties" xmlns:ns2="b364318b-48cb-49ac-ac49-de67ddd977f7" targetNamespace="http://schemas.microsoft.com/office/2006/metadata/properties" ma:root="true" ma:fieldsID="691b68d22381f767a6817b4c67c58c89" ns2:_="">
    <xsd:import namespace="b364318b-48cb-49ac-ac49-de67ddd977f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364318b-48cb-49ac-ac49-de67ddd977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88658A8-8C4E-41E7-AE7E-2016A5FB526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CB836F7-82AF-4E23-9D21-9859FC9D55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364318b-48cb-49ac-ac49-de67ddd977f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A43202-FD69-4248-821B-F7FA1D3D9397}">
  <ds:schemaRefs>
    <ds:schemaRef ds:uri="3d9c2ab7-9c2a-45a6-bf32-9905677724b1"/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3bd22f07-fb06-4731-b4fe-961d76049ed6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2126</TotalTime>
  <Words>612</Words>
  <Application>Microsoft Office PowerPoint</Application>
  <PresentationFormat>Widescreen</PresentationFormat>
  <Paragraphs>74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Bauhaus 93</vt:lpstr>
      <vt:lpstr>Calibri</vt:lpstr>
      <vt:lpstr>Segoe UI</vt:lpstr>
      <vt:lpstr>Trebuchet MS</vt:lpstr>
      <vt:lpstr>Wingdings 3</vt:lpstr>
      <vt:lpstr>Facet</vt:lpstr>
      <vt:lpstr>Introduction to R and RStudio</vt:lpstr>
      <vt:lpstr>Before Starting…</vt:lpstr>
      <vt:lpstr>Today…</vt:lpstr>
      <vt:lpstr>What is Sentiment Analysis?  </vt:lpstr>
      <vt:lpstr>Uses of Sentiment Analysis</vt:lpstr>
      <vt:lpstr>Why use Sentiment Analysis?</vt:lpstr>
      <vt:lpstr>Some difficulties:   </vt:lpstr>
      <vt:lpstr>What Categories of Sentiment Analysis are there?   </vt:lpstr>
      <vt:lpstr>What do you need?</vt:lpstr>
      <vt:lpstr>Let’s try it ourselves!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 &amp; QGIS: Integrating Statistical and Spatial Data Analysis</dc:title>
  <dc:creator>MCLEAN Andrew</dc:creator>
  <cp:lastModifiedBy>Alex Crest</cp:lastModifiedBy>
  <cp:revision>28</cp:revision>
  <dcterms:created xsi:type="dcterms:W3CDTF">2021-04-29T10:25:44Z</dcterms:created>
  <dcterms:modified xsi:type="dcterms:W3CDTF">2026-04-13T13:00:22Z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0x010100A6FA43870EC3F1479C794ECA0A85DC3A</vt:lpwstr>
  </property>
</Properties>
</file>